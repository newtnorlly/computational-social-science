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879" y="3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7ED5C-F169-49EA-B98F-727789F3B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8A803A-C257-410C-8B35-A3EE54D61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DAF123-B847-43DD-AECE-9CA0ED4B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9A2D1-BB11-418B-9180-440CD0E43D1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32EE29-08C6-4DEA-A467-E88E9BE4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1A6C29-E6B8-45AB-8C00-475665EB4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1F44-7E6F-4E8E-AD9C-DE7AB9DC9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98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CD22C3-6098-4450-9860-F6A507A9B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8145F2-812C-4AA6-A7AC-69258F4CB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090BFC-F2AE-4031-9C9D-A9A8FF9AD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9A2D1-BB11-418B-9180-440CD0E43D1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2DFBAC-789D-42F4-9584-A55F2BC52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83015A-0DD3-4680-AAF9-E5638379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1F44-7E6F-4E8E-AD9C-DE7AB9DC9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05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89883-A9BB-41C7-8110-EDDB547F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3C73D4-08B9-41BA-B5C5-46E3D11A6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0783D1-7EE7-415B-8C98-90D4FBACC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9A2D1-BB11-418B-9180-440CD0E43D1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04B85B-C452-48C6-B0EA-1A43951F9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C5D99F-E762-4401-9A3D-483730A08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1F44-7E6F-4E8E-AD9C-DE7AB9DC9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02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E8668-1AC2-42A2-8093-0E480F569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081229-B83A-47D1-B4A8-AC4A3EA92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212FF7-C753-4D0B-AFBC-4A94A7321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45ECD6-B7DD-4F19-93A0-F93B1BD73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9A2D1-BB11-418B-9180-440CD0E43D1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707E0B-E63E-4E57-A85B-C696597D7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680AF0-15AD-473E-9A87-6E24214DA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1F44-7E6F-4E8E-AD9C-DE7AB9DC9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523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0765B3-502D-4DAB-A685-DE57AAEE9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CDA3A6-C732-4C21-96E7-C118D342D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27755A-EA2A-46B0-991D-AB8F6D3E8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947D518-D045-49E8-B23E-DF1C2D9379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B274D4-486B-4EFB-8E58-71F19BD51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8D98C59-96B0-4D0B-93F5-861C8602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9A2D1-BB11-418B-9180-440CD0E43D1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6DD374-01E5-4BD1-BDF2-2CB482F72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31DDB91-F088-47C3-85B8-E23A0964E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1F44-7E6F-4E8E-AD9C-DE7AB9DC9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880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C3E211-03CF-4ECE-BBCD-359A1FB2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155A13-A714-4BC0-B8C6-DF39014AF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9A2D1-BB11-418B-9180-440CD0E43D1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891A6F-17CE-42FF-9EC6-3639BE22D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FBB3CD-596B-4121-A535-C61E7672D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1F44-7E6F-4E8E-AD9C-DE7AB9DC9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952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A58B55-EAF1-4F52-9FC4-89E1F649A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9A2D1-BB11-418B-9180-440CD0E43D1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148C45-2634-4B82-ACEA-64E54D8E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207678-D7CB-472E-85E8-DC30355CB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1F44-7E6F-4E8E-AD9C-DE7AB9DC9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462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69B3F-58CD-42C4-BA8B-D4B29B557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0909DF-2ACE-4EC1-A21E-D1EC5273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80F7CA-B436-4780-93A1-A16A63E02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846DFE-0E2B-4D95-9796-7C934F32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9A2D1-BB11-418B-9180-440CD0E43D1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CA7446-9DE6-4EEE-A34C-6EBC78B9C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4FC0D6-D4F8-4C40-A79B-F97D7057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1F44-7E6F-4E8E-AD9C-DE7AB9DC9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699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EA76D-94A9-442E-AA96-F81D70F14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D59189-4CEC-45F2-BC2B-4A1967BAB5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48DA8D-254B-4F72-A858-059E58EE8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D108BD-BE11-4CC5-A5A3-A17D027F0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9A2D1-BB11-418B-9180-440CD0E43D1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2DB961-9839-4672-9301-3B852DFD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43B118-678C-463E-ABDA-855C3F4C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1F44-7E6F-4E8E-AD9C-DE7AB9DC9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95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024E3-DCF1-4882-A52A-417BB63A2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30D6F3-64D0-43AD-98B8-C6C45C184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017298-5DAB-404E-8C05-032ADCDDB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9A2D1-BB11-418B-9180-440CD0E43D1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230440-D84E-46E6-91A1-5B089315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1030C7-3F3C-452F-9F86-0BA4199D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1F44-7E6F-4E8E-AD9C-DE7AB9DC9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04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A7DD8EC-BA6A-4D43-89AE-8E4B9E258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6742CE-529C-42EC-B34E-AA63D6116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A4D543-326E-4D40-A688-9A524880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9A2D1-BB11-418B-9180-440CD0E43D1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C0F4E6-3D2B-4B46-B4F3-ADC06216E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6C46CB-4D89-4E80-8389-DE891808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21F44-7E6F-4E8E-AD9C-DE7AB9DC9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3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8ABDE9-614C-447A-A9D2-8F3559621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03FFF0-EB22-4A6A-8C98-5041AE842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1F2941-F471-4C67-BB9E-564C42024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9A2D1-BB11-418B-9180-440CD0E43D1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3230E9-4274-400F-B2E6-7E2A33F75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F79C73-A06D-468E-9327-B92208266A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C21F44-7E6F-4E8E-AD9C-DE7AB9DC9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78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BE6F347-922E-4427-B7C4-63B4C5D21D05}"/>
              </a:ext>
            </a:extLst>
          </p:cNvPr>
          <p:cNvSpPr txBox="1"/>
          <p:nvPr/>
        </p:nvSpPr>
        <p:spPr>
          <a:xfrm>
            <a:off x="334271" y="270154"/>
            <a:ext cx="11581504" cy="631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FF0000"/>
                </a:solidFill>
              </a:rPr>
              <a:t>上机内容</a:t>
            </a:r>
            <a:endParaRPr lang="en-US" altLang="zh-CN" sz="4800" b="1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年各市社会经济发展的不平衡程度（计算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Gini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系数）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年夜间灯光栅格转矢量点（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Raster to point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），并将点矢量中属性值为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的剔除（编辑状态”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 Features-start editing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”，选中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grid_code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的条目，然后删除（键盘中的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）），然后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stop editing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并保存处理结果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将步骤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处理后的点图层与“武汉城市圈城市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”相交（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intersect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打开相交数据的属性表文件（后缀名为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dbf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），分别提取各个城市的夜间灯光分布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根据每个城市的夜间灯光分布计算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Gini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系数（计算过程可参考后续步骤）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6000" indent="-28575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利用时序（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2012-2020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）夜间灯光数据侦测武汉城市圈区县的社会经济发展情况（增长或者收缩）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5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矢量与栅格的叠加，统计每个区县单元每个年份的平均夜间灯光亮度（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Zonal Statistics as Table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5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针对历年重复操作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，得到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张表（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个年份），按照字段，将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张表整合到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张表中，表中每行为每            个区县单元历年的夜间灯光亮度；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5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侦测每个夜间灯光的变化趋势（斜率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），侦测历年夜间灯光的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Gini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系数（注意剔除掉亮度值为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的数据）；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将表格计算得到的变化趋势统计表与区县矢量单元按照某个字段（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）进行空间连接，进行空间分布模式的侦测（莫兰指数）；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5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结果制图，说（研究）故事。</a:t>
            </a:r>
            <a:r>
              <a:rPr lang="en-US" altLang="zh-CN" dirty="0"/>
              <a:t> 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4585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736099D-508B-4BE1-99BB-FA2AFE6FF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72" y="1279515"/>
            <a:ext cx="11724167" cy="429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57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214C56A-7E7B-4CF3-A312-5F5DEADDE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843" y="2231814"/>
            <a:ext cx="7840045" cy="32320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66E8E9B-8E37-468B-A41E-92815F8C4FB0}"/>
              </a:ext>
            </a:extLst>
          </p:cNvPr>
          <p:cNvSpPr txBox="1"/>
          <p:nvPr/>
        </p:nvSpPr>
        <p:spPr>
          <a:xfrm>
            <a:off x="161404" y="107253"/>
            <a:ext cx="4660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60607"/>
                </a:solidFill>
                <a:latin typeface="-apple-system"/>
              </a:rPr>
              <a:t>使用</a:t>
            </a:r>
            <a:r>
              <a:rPr lang="en-US" altLang="zh-CN" sz="1800" b="1" dirty="0">
                <a:solidFill>
                  <a:srgbClr val="060607"/>
                </a:solidFill>
                <a:latin typeface="-apple-system"/>
              </a:rPr>
              <a:t>Excel</a:t>
            </a:r>
            <a:r>
              <a:rPr lang="zh-CN" altLang="en-US" sz="1800" b="1" dirty="0">
                <a:solidFill>
                  <a:srgbClr val="060607"/>
                </a:solidFill>
                <a:latin typeface="-apple-system"/>
              </a:rPr>
              <a:t>计算</a:t>
            </a:r>
            <a:r>
              <a:rPr lang="en-US" altLang="zh-CN" sz="1800" b="1" dirty="0">
                <a:solidFill>
                  <a:srgbClr val="060607"/>
                </a:solidFill>
                <a:latin typeface="-apple-system"/>
              </a:rPr>
              <a:t>Gini</a:t>
            </a:r>
            <a:r>
              <a:rPr lang="zh-CN" altLang="en-US" sz="1800" b="1" dirty="0">
                <a:solidFill>
                  <a:srgbClr val="060607"/>
                </a:solidFill>
                <a:latin typeface="-apple-system"/>
              </a:rPr>
              <a:t>系数</a:t>
            </a:r>
            <a:endParaRPr lang="en-US" altLang="zh-CN" sz="1800" b="1" dirty="0">
              <a:solidFill>
                <a:srgbClr val="060607"/>
              </a:solidFill>
              <a:latin typeface="-apple-system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404DCC-EA6C-4145-90F2-C7C3C09ADCC5}"/>
              </a:ext>
            </a:extLst>
          </p:cNvPr>
          <p:cNvSpPr txBox="1"/>
          <p:nvPr/>
        </p:nvSpPr>
        <p:spPr>
          <a:xfrm>
            <a:off x="2005437" y="1226314"/>
            <a:ext cx="7704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accent1"/>
                </a:solidFill>
                <a:latin typeface="-apple-system"/>
              </a:rPr>
              <a:t>1、将已知样本数据(收入数值)在EXCEL表中按照从小到大自动排序，形成第一列数据，字段名称“收入排序”。</a:t>
            </a:r>
            <a:endParaRPr lang="en-US" altLang="zh-CN" sz="1800" b="1" dirty="0">
              <a:solidFill>
                <a:schemeClr val="accent1"/>
              </a:solidFill>
              <a:latin typeface="-apple-system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9496AE-8E97-4183-A179-DE0AD6C7A5C5}"/>
              </a:ext>
            </a:extLst>
          </p:cNvPr>
          <p:cNvSpPr/>
          <p:nvPr/>
        </p:nvSpPr>
        <p:spPr>
          <a:xfrm>
            <a:off x="1929360" y="2303822"/>
            <a:ext cx="969024" cy="3160055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BFE1B89-037B-459D-BD28-DE5365D21673}"/>
              </a:ext>
            </a:extLst>
          </p:cNvPr>
          <p:cNvSpPr txBox="1"/>
          <p:nvPr/>
        </p:nvSpPr>
        <p:spPr>
          <a:xfrm>
            <a:off x="2005437" y="1262317"/>
            <a:ext cx="7704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-apple-system"/>
              </a:rPr>
              <a:t>2、第二列数据字段名称设为“人数累计”，即从1开始逐个向下累加，每次累加1人；</a:t>
            </a:r>
            <a:endParaRPr lang="en-US" altLang="zh-CN" sz="1800" b="1" dirty="0">
              <a:solidFill>
                <a:schemeClr val="accent6">
                  <a:lumMod val="40000"/>
                  <a:lumOff val="60000"/>
                </a:schemeClr>
              </a:solidFill>
              <a:latin typeface="-apple-system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D8E70F-2412-4B31-A91F-7FAC78D80258}"/>
              </a:ext>
            </a:extLst>
          </p:cNvPr>
          <p:cNvSpPr/>
          <p:nvPr/>
        </p:nvSpPr>
        <p:spPr>
          <a:xfrm>
            <a:off x="3205960" y="2267817"/>
            <a:ext cx="576064" cy="3160055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EC7A10-9922-47B7-99B9-58FCA0AEF06E}"/>
              </a:ext>
            </a:extLst>
          </p:cNvPr>
          <p:cNvSpPr txBox="1"/>
          <p:nvPr/>
        </p:nvSpPr>
        <p:spPr>
          <a:xfrm>
            <a:off x="2073824" y="1432758"/>
            <a:ext cx="7724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4">
                    <a:lumMod val="75000"/>
                  </a:schemeClr>
                </a:solidFill>
                <a:latin typeface="-apple-system"/>
              </a:rPr>
              <a:t>3</a:t>
            </a:r>
            <a:r>
              <a:rPr lang="zh-CN" altLang="en-US" sz="1800" b="1" dirty="0">
                <a:solidFill>
                  <a:schemeClr val="accent4">
                    <a:lumMod val="75000"/>
                  </a:schemeClr>
                </a:solidFill>
                <a:latin typeface="-apple-system"/>
              </a:rPr>
              <a:t>、第三列数据字段名称设为“收入累计”，使用EXCEL公式表示:本单元格数据</a:t>
            </a:r>
            <a:r>
              <a:rPr lang="en-US" altLang="zh-CN" sz="1800" b="1" dirty="0">
                <a:solidFill>
                  <a:schemeClr val="accent4">
                    <a:lumMod val="75000"/>
                  </a:schemeClr>
                </a:solidFill>
                <a:latin typeface="-apple-system"/>
              </a:rPr>
              <a:t>=</a:t>
            </a:r>
            <a:r>
              <a:rPr lang="zh-CN" altLang="en-US" sz="1800" b="1" dirty="0">
                <a:solidFill>
                  <a:schemeClr val="accent4">
                    <a:lumMod val="75000"/>
                  </a:schemeClr>
                </a:solidFill>
                <a:latin typeface="-apple-system"/>
              </a:rPr>
              <a:t>上单元格数据</a:t>
            </a:r>
            <a:r>
              <a:rPr lang="en-US" altLang="zh-CN" sz="1800" b="1" dirty="0">
                <a:solidFill>
                  <a:schemeClr val="accent4">
                    <a:lumMod val="75000"/>
                  </a:schemeClr>
                </a:solidFill>
                <a:latin typeface="-apple-system"/>
              </a:rPr>
              <a:t>+</a:t>
            </a:r>
            <a:r>
              <a:rPr lang="zh-CN" altLang="en-US" sz="1800" b="1" dirty="0">
                <a:solidFill>
                  <a:schemeClr val="accent4">
                    <a:lumMod val="75000"/>
                  </a:schemeClr>
                </a:solidFill>
                <a:latin typeface="-apple-system"/>
              </a:rPr>
              <a:t>同行的“收入排序”单元格数据；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376665-5996-4FD3-9D53-95F47D266A38}"/>
              </a:ext>
            </a:extLst>
          </p:cNvPr>
          <p:cNvSpPr/>
          <p:nvPr/>
        </p:nvSpPr>
        <p:spPr>
          <a:xfrm>
            <a:off x="3785968" y="2265720"/>
            <a:ext cx="576064" cy="3160055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5F2661-2DB4-4ABC-99F3-7717AEED5A48}"/>
              </a:ext>
            </a:extLst>
          </p:cNvPr>
          <p:cNvSpPr txBox="1"/>
          <p:nvPr/>
        </p:nvSpPr>
        <p:spPr>
          <a:xfrm>
            <a:off x="1986238" y="1188212"/>
            <a:ext cx="7724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6"/>
                </a:solidFill>
                <a:latin typeface="-apple-system"/>
              </a:rPr>
              <a:t>4. </a:t>
            </a:r>
            <a:r>
              <a:rPr lang="zh-CN" altLang="en-US" sz="1800" b="1" dirty="0">
                <a:solidFill>
                  <a:schemeClr val="accent6"/>
                </a:solidFill>
                <a:latin typeface="-apple-system"/>
              </a:rPr>
              <a:t>第四列数据字段名称设为“人数百分比”，用同行的“人数累计”单元格数据除以人员总数；</a:t>
            </a:r>
            <a:endParaRPr lang="en-US" altLang="zh-CN" sz="1800" b="1" dirty="0">
              <a:solidFill>
                <a:schemeClr val="accent6"/>
              </a:solidFill>
              <a:latin typeface="-apple-system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CDE15A-D211-436E-9150-803F15128F0A}"/>
              </a:ext>
            </a:extLst>
          </p:cNvPr>
          <p:cNvSpPr/>
          <p:nvPr/>
        </p:nvSpPr>
        <p:spPr>
          <a:xfrm>
            <a:off x="5658574" y="2249530"/>
            <a:ext cx="880812" cy="3160055"/>
          </a:xfrm>
          <a:prstGeom prst="rect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B3C2DA-9B7F-4FF5-ADBC-55F1A6EA9EDE}"/>
              </a:ext>
            </a:extLst>
          </p:cNvPr>
          <p:cNvSpPr txBox="1"/>
          <p:nvPr/>
        </p:nvSpPr>
        <p:spPr>
          <a:xfrm>
            <a:off x="2008140" y="1225264"/>
            <a:ext cx="78945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B0F0"/>
                </a:solidFill>
                <a:latin typeface="-apple-system"/>
              </a:rPr>
              <a:t>5、第五列数据字段名称设为“收入百分比”，用同行的“收入累计”单元格数据除以收入总数；</a:t>
            </a:r>
            <a:endParaRPr lang="en-US" altLang="zh-CN" sz="1800" b="1" dirty="0">
              <a:solidFill>
                <a:srgbClr val="00B0F0"/>
              </a:solidFill>
              <a:latin typeface="-apple-system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B7A7A5-3F33-4227-A354-368A27641316}"/>
              </a:ext>
            </a:extLst>
          </p:cNvPr>
          <p:cNvSpPr/>
          <p:nvPr/>
        </p:nvSpPr>
        <p:spPr>
          <a:xfrm>
            <a:off x="4749337" y="2249530"/>
            <a:ext cx="880812" cy="316005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7DFC01C-3FDB-4E2C-B9E9-3EB81B6A55DB}"/>
              </a:ext>
            </a:extLst>
          </p:cNvPr>
          <p:cNvSpPr txBox="1"/>
          <p:nvPr/>
        </p:nvSpPr>
        <p:spPr>
          <a:xfrm>
            <a:off x="1929360" y="1127308"/>
            <a:ext cx="77897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7030A0"/>
                </a:solidFill>
                <a:latin typeface="-apple-system"/>
              </a:rPr>
              <a:t>6、第六列数据字段名称设为“梯形面积”，以S2为例，S2=1/2*(收入百分比1+收入百分比2)*(人数百分比2-人数百分比1)，按照前述的计算原理编辑公式即可，通过以上步骤，最后将“梯形面积”字段的值累加，即为前文所述的B面积；</a:t>
            </a:r>
            <a:endParaRPr lang="en-US" altLang="zh-CN" sz="1800" b="1" dirty="0">
              <a:solidFill>
                <a:srgbClr val="7030A0"/>
              </a:solidFill>
              <a:latin typeface="-apple-system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958BB40-E7A4-4FF7-A864-6B8A0A7E500D}"/>
              </a:ext>
            </a:extLst>
          </p:cNvPr>
          <p:cNvSpPr/>
          <p:nvPr/>
        </p:nvSpPr>
        <p:spPr>
          <a:xfrm>
            <a:off x="6808994" y="2245456"/>
            <a:ext cx="880812" cy="3160055"/>
          </a:xfrm>
          <a:prstGeom prst="rect">
            <a:avLst/>
          </a:prstGeom>
          <a:noFill/>
          <a:ln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416762-7AA5-44F2-9C20-552AE105E9D7}"/>
              </a:ext>
            </a:extLst>
          </p:cNvPr>
          <p:cNvSpPr txBox="1"/>
          <p:nvPr/>
        </p:nvSpPr>
        <p:spPr>
          <a:xfrm>
            <a:off x="1951262" y="1166898"/>
            <a:ext cx="7789740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bg1">
                    <a:lumMod val="50000"/>
                  </a:schemeClr>
                </a:solidFill>
                <a:latin typeface="-apple-system"/>
              </a:rPr>
              <a:t>7</a:t>
            </a: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-apple-system"/>
              </a:rPr>
              <a:t> 、用直角三角形面积(收入百分比*人数百分比)减去B面积即得A面积，则基尼系数可得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6255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 animBg="1"/>
      <p:bldP spid="8" grpId="0"/>
      <p:bldP spid="8" grpId="1"/>
      <p:bldP spid="9" grpId="0" animBg="1"/>
      <p:bldP spid="10" grpId="0"/>
      <p:bldP spid="10" grpId="1"/>
      <p:bldP spid="11" grpId="0" animBg="1"/>
      <p:bldP spid="12" grpId="0"/>
      <p:bldP spid="12" grpId="1"/>
      <p:bldP spid="13" grpId="0" animBg="1"/>
      <p:bldP spid="14" grpId="0"/>
      <p:bldP spid="14" grpId="1"/>
      <p:bldP spid="15" grpId="0" animBg="1"/>
      <p:bldP spid="16" grpId="0"/>
      <p:bldP spid="16" grpId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544</Words>
  <Application>Microsoft Office PowerPoint</Application>
  <PresentationFormat>宽屏</PresentationFormat>
  <Paragraphs>21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-apple-system</vt:lpstr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QINGSONG HE</dc:creator>
  <cp:lastModifiedBy>hqs</cp:lastModifiedBy>
  <cp:revision>12</cp:revision>
  <dcterms:created xsi:type="dcterms:W3CDTF">2024-05-29T02:14:31Z</dcterms:created>
  <dcterms:modified xsi:type="dcterms:W3CDTF">2026-04-01T06:38:51Z</dcterms:modified>
</cp:coreProperties>
</file>